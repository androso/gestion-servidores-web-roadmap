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ACB095-7636-4083-BF62-076B8DA7593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E8669B-BEF2-4182-803E-BFDE9D2595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78BC56-8D09-4D3C-B161-2B55D3C174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F93A59-9000-44A0-92AF-140A156C55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60B758-6C39-4764-B548-BD3D16B1E0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826225-702C-4E12-93DC-C72C573024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0DBC2-5489-458E-8B8F-7F1AFBEF3A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0E2CD8-3784-475A-93A7-756B8A3392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36AB26-CA87-4BF6-A67F-1CDDF923E4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899920" y="-1280160"/>
            <a:ext cx="3840120" cy="3840120"/>
          </a:xfrm>
          <a:prstGeom prst="ellipse">
            <a:avLst/>
          </a:prstGeom>
          <a:noFill/>
          <a:ln w="19050">
            <a:solidFill>
              <a:srgbClr val="2B2B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317240" y="960120"/>
            <a:ext cx="319680" cy="31968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2331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49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ESTRUCTURAS DE DATOS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2697480"/>
            <a:ext cx="96008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Tipos de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datos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507492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E4E1DD"/>
                </a:solidFill>
                <a:effectLst/>
                <a:uFillTx/>
                <a:latin typeface="Calibri"/>
                <a:ea typeface="Calibri"/>
              </a:rPr>
              <a:t>Cómo representa un programa la información que maneja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40080" y="6309360"/>
            <a:ext cx="822960" cy="360"/>
          </a:xfrm>
          <a:prstGeom prst="line">
            <a:avLst/>
          </a:prstGeom>
          <a:ln w="25400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640080" y="502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01 · FUNDAMENTOS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640080" y="82296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¿Por qué importan los tipos de datos?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640080" y="2331720"/>
            <a:ext cx="34286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1005840" y="2743200"/>
            <a:ext cx="639720" cy="6397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005840" y="27432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2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005840" y="361188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Memoria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1005840" y="4069080"/>
            <a:ext cx="269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Definen cuánto espacio ocupa cada dato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4389120" y="2331720"/>
            <a:ext cx="34286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4754880" y="2743200"/>
            <a:ext cx="639720" cy="6397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4754880" y="27432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2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4754880" y="361188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Corrección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4754880" y="4069080"/>
            <a:ext cx="269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Delimitan qué operaciones son válidas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8138160" y="2331720"/>
            <a:ext cx="3428640" cy="265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8503920" y="2743200"/>
            <a:ext cx="639720" cy="6397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8503920" y="27432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2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8503920" y="361188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Rendimiento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8503920" y="4069080"/>
            <a:ext cx="269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Afectan la velocidad de ejecución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640080" y="6446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ESTRUCTURAS DE DATOS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1100304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640080" y="502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02 · CONCEPTOS BÁSICOS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640080" y="82296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Datos primitivos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640080" y="178308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Tipos básicos, incorporados directamente en el lenguaje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640080" y="2514600"/>
            <a:ext cx="23770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640080" y="25146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Entero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3291840" y="2514600"/>
            <a:ext cx="23770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3291840" y="25146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Decimal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640080" y="3566160"/>
            <a:ext cx="23770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640080" y="356616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Carácter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3291840" y="3566160"/>
            <a:ext cx="23770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3291840" y="356616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Booleano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6675120" y="1783080"/>
            <a:ext cx="4845960" cy="361152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7040880" y="21031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EN MEMORIA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7040880" y="246888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 guardan de forma directa, con un tamaño fijo y conocido de antemano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7040880" y="3657600"/>
            <a:ext cx="4114800" cy="360"/>
          </a:xfrm>
          <a:prstGeom prst="line">
            <a:avLst/>
          </a:prstGeom>
          <a:ln w="12700">
            <a:solidFill>
              <a:srgbClr val="2B2B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7040880" y="3886200"/>
            <a:ext cx="411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E4E1DD"/>
                </a:solidFill>
                <a:effectLst/>
                <a:uFillTx/>
                <a:latin typeface="Calibri"/>
                <a:ea typeface="Calibri"/>
              </a:rPr>
              <a:t>No tienen métodos ni comportamiento propio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640080" y="6446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ESTRUCTURAS DE DATOS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1100304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640080" y="502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03 · LENGUAJES MODERNOS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640080" y="82296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Datos como objetos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640080" y="2057400"/>
            <a:ext cx="411120" cy="4111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640080" y="20574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1234440" y="200268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Combinan datos y comportamiento en una sola unidad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640080" y="2926080"/>
            <a:ext cx="411120" cy="4111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640080" y="2926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1234440" y="287136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Ejemplos: String, ArrayList, Date, listas propias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640080" y="3794760"/>
            <a:ext cx="411120" cy="4111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40080" y="37947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1234440" y="374004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Se manejan por referencia, no por su valor directo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7315200" y="1783080"/>
            <a:ext cx="4205880" cy="356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7315200" y="1783080"/>
            <a:ext cx="4205880" cy="50256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7315200" y="178308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Objeto: Alumno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7635240" y="25603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ATRIBUTOS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7635240" y="288036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nombre, edad, carné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7635240" y="3520440"/>
            <a:ext cx="3566160" cy="360"/>
          </a:xfrm>
          <a:prstGeom prst="line">
            <a:avLst/>
          </a:prstGeom>
          <a:ln w="12700">
            <a:solidFill>
              <a:srgbClr val="E4E1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7635240" y="37033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MÉTODOS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7635240" y="402336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inscribir(), calcularPromedio()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7635240" y="48006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640080" y="6446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ESTRUCTURAS DE DATOS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1100304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40080" y="502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04 · DECISIONES DE DISEÑO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40080" y="82296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¿Cuándo usar cada uno?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640080" y="1965960"/>
            <a:ext cx="5120280" cy="370296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1005840" y="228600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PRIMITIVO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1005840" y="3017520"/>
            <a:ext cx="109440" cy="109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1280160" y="2898720"/>
            <a:ext cx="411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4E1DD"/>
                </a:solidFill>
                <a:effectLst/>
                <a:uFillTx/>
                <a:latin typeface="Calibri"/>
                <a:ea typeface="Calibri"/>
              </a:rPr>
              <a:t>Un solo valor simple (número, letra, sí/no)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1005840" y="3703320"/>
            <a:ext cx="109440" cy="109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1280160" y="3584520"/>
            <a:ext cx="411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4E1DD"/>
                </a:solidFill>
                <a:effectLst/>
                <a:uFillTx/>
                <a:latin typeface="Calibri"/>
                <a:ea typeface="Calibri"/>
              </a:rPr>
              <a:t>Importa el rendimiento y el uso de memoria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1005840" y="4389120"/>
            <a:ext cx="109440" cy="109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1280160" y="4270320"/>
            <a:ext cx="411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4E1DD"/>
                </a:solidFill>
                <a:effectLst/>
                <a:uFillTx/>
                <a:latin typeface="Calibri"/>
                <a:ea typeface="Calibri"/>
              </a:rPr>
              <a:t>No necesita comportamiento propio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6263640" y="1965960"/>
            <a:ext cx="5120280" cy="370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6629400" y="228600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8102E"/>
                </a:solidFill>
                <a:effectLst/>
                <a:uFillTx/>
                <a:latin typeface="Bookman Old Style"/>
                <a:ea typeface="Bookman Old Style"/>
              </a:rPr>
              <a:t>COMPUESTO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6629400" y="3017520"/>
            <a:ext cx="109440" cy="109440"/>
          </a:xfrm>
          <a:prstGeom prst="ellipse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6903720" y="2898720"/>
            <a:ext cx="411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Agrupa varios datos y/o comportamiento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6629400" y="3703320"/>
            <a:ext cx="109440" cy="109440"/>
          </a:xfrm>
          <a:prstGeom prst="ellipse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6903720" y="3584520"/>
            <a:ext cx="411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Representa un concepto propio del dominio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6629400" y="4389120"/>
            <a:ext cx="109440" cy="109440"/>
          </a:xfrm>
          <a:prstGeom prst="ellipse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6903720" y="4270320"/>
            <a:ext cx="411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Necesita validación o lógica asociada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640080" y="6446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ESTRUCTURAS DE DATOS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1100304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640080" y="502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05 · DISEÑO DE TIPOS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640080" y="82296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¿Cuándo crear un nuevo tipo de dato?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640080" y="2148840"/>
            <a:ext cx="548280" cy="54828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640080" y="2148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1417320" y="2075760"/>
            <a:ext cx="96008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1691640" y="2075760"/>
            <a:ext cx="9052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Se repite la misma estructura de datos en varias partes del código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640080" y="3291840"/>
            <a:ext cx="548280" cy="54828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640080" y="3291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1417320" y="3218760"/>
            <a:ext cx="96008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1691640" y="3218760"/>
            <a:ext cx="9052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Existen reglas propias del dominio que hay que validar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640080" y="4434840"/>
            <a:ext cx="548280" cy="54828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640080" y="4434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1417320" y="4361760"/>
            <a:ext cx="96008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1691640" y="4361760"/>
            <a:ext cx="9052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Un nombre propio aclara la intención mejor que un tipo genérico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640080" y="6446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ESTRUCTURAS DE DATOS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1100304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-1463040" y="4480560"/>
            <a:ext cx="3840120" cy="3840120"/>
          </a:xfrm>
          <a:prstGeom prst="ellipse">
            <a:avLst/>
          </a:prstGeom>
          <a:noFill/>
          <a:ln w="19050">
            <a:solidFill>
              <a:srgbClr val="2B2B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640080" y="6858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49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CIERRE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640080" y="1097280"/>
            <a:ext cx="96008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Los tipos de datos son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la base del diseño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640080" y="3680280"/>
            <a:ext cx="502560" cy="502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640080" y="368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411480" y="37033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Memoria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3429000" y="3680280"/>
            <a:ext cx="502560" cy="502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3429000" y="368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3200400" y="37033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Claridad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6217920" y="3680280"/>
            <a:ext cx="502560" cy="502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6217920" y="368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5989320" y="37033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Seguridad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9006840" y="3680280"/>
            <a:ext cx="502560" cy="502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9006840" y="368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8778240" y="37033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Escalabilidad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640080" y="6446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ESTRUCTURAS DE DATOS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1100304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640080" y="502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ACTIVIDAD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640080" y="82296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A0A0A"/>
                </a:solidFill>
                <a:effectLst/>
                <a:uFillTx/>
                <a:latin typeface="Bookman Old Style"/>
                <a:ea typeface="Bookman Old Style"/>
              </a:rPr>
              <a:t>Tipos de datos con reglas propias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640080" y="178308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En Python: diseña 5 tipos de datos cuyo valor deba validarse para poder existir, no solo asignarse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640080" y="2286000"/>
            <a:ext cx="475200" cy="47520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640080" y="22860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1344240" y="2240280"/>
            <a:ext cx="967392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1618560" y="2240280"/>
            <a:ext cx="9125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Elige 5 casos donde un valor suelto no basta: debe cumplir una regla para ser válido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640080" y="3136320"/>
            <a:ext cx="475200" cy="47520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640080" y="3136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1344240" y="3090600"/>
            <a:ext cx="967392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1618560" y="3090600"/>
            <a:ext cx="9125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Impleméntalos como clases; valida la regla al crear el objeto (por ejemplo, en __init__)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640080" y="3986640"/>
            <a:ext cx="475200" cy="47520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640080" y="3986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3"/>
          <p:cNvSpPr/>
          <p:nvPr/>
        </p:nvSpPr>
        <p:spPr>
          <a:xfrm>
            <a:off x="1344240" y="3940920"/>
            <a:ext cx="967392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4"/>
          <p:cNvSpPr/>
          <p:nvPr/>
        </p:nvSpPr>
        <p:spPr>
          <a:xfrm>
            <a:off x="1618560" y="3940920"/>
            <a:ext cx="9125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Por cada tipo, muestra un caso de uso válido y uno inválido que la validación rechace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640080" y="4837320"/>
            <a:ext cx="475200" cy="47520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640080" y="4837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7"/>
          <p:cNvSpPr/>
          <p:nvPr/>
        </p:nvSpPr>
        <p:spPr>
          <a:xfrm>
            <a:off x="1344240" y="4791600"/>
            <a:ext cx="967392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1618560" y="4791600"/>
            <a:ext cx="9125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A0A0A"/>
                </a:solidFill>
                <a:effectLst/>
                <a:uFillTx/>
                <a:latin typeface="Calibri"/>
                <a:ea typeface="Calibri"/>
              </a:rPr>
              <a:t>Explica en un comentario qué error o dato incorrecto evita cada validación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9"/>
          <p:cNvSpPr/>
          <p:nvPr/>
        </p:nvSpPr>
        <p:spPr>
          <a:xfrm>
            <a:off x="640080" y="57607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Entregable: archivo .py con las 5 clases, sus validaciones y los ejemplos de uso comentados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0"/>
          <p:cNvSpPr/>
          <p:nvPr/>
        </p:nvSpPr>
        <p:spPr>
          <a:xfrm>
            <a:off x="640080" y="6446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ESTRUCTURAS DE DATOS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1100304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2026-08-16T23:31:19Z</dcterms:created>
  <dc:creator>PptxGenJS</dc:creator>
  <dc:description/>
  <dc:language>en-US</dc:language>
  <cp:lastModifiedBy/>
  <dcterms:modified xsi:type="dcterms:W3CDTF">2026-08-16T17:42:00Z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